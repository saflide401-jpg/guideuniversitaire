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103120"/>
            <a:ext cx="502920" cy="502920"/>
          </a:xfrm>
          <a:prstGeom prst="roundRect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9659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Guide Universitaire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93C5FD"/>
                </a:solidFill>
              </a:rPr>
              <a:t>Plateforme d'analyse automatisée des tendances de recrutement et des compétences demandées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48B"/>
                </a:solidFill>
              </a:rPr>
              <a:t>Projet tutoré — Rapport de présentation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1. CONTEXTE</a:t>
            </a:r>
          </a:p>
          <a:p>
            <a:r>
              <a:rPr sz="2600" b="1">
                <a:solidFill>
                  <a:srgbClr val="FFFFFF"/>
                </a:solidFill>
              </a:rPr>
              <a:t>Une problématique concrète d'orientation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Un étudiant manque souvent de visibilité sur le marché de l'emploi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Quels secteurs recrutent le plus 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Quelles compétences sont réellement demandées ?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Comment ces tendances évoluent-elles dans le temps et par région ?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Répondre à ces questions manuellement est long, fastidieux et vite obsolète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→ Guide Universitaire automatise entièrement cette veille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1. OBJECTIFS</a:t>
            </a:r>
          </a:p>
          <a:p>
            <a:r>
              <a:rPr sz="2600" b="1">
                <a:solidFill>
                  <a:srgbClr val="FFFFFF"/>
                </a:solidFill>
              </a:rPr>
              <a:t>Ce que le projet doit garantir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Collecter automatiquement des offres d'emploi réelles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Structurer ces données (secteur, entreprise, compétences, localisation)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Restituer l'information en quelques minutes de consultation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Ne jamais exiger d'action manuelle de collecte de la part de l'utilisateur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Fournir des données actualisées en continu, pas une photo figée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1. FONCTIONNALITÉS</a:t>
            </a:r>
          </a:p>
          <a:p>
            <a:r>
              <a:rPr sz="2600" b="1">
                <a:solidFill>
                  <a:srgbClr val="FFFFFF"/>
                </a:solidFill>
              </a:rPr>
              <a:t>Cinq espaces d'analyse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Dashboard — indicateurs clés, répartition sectorielle, dernières offres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Offres d'emploi — liste filtrable (mot-clé, secteur, localisation)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Compétences — classement, nuage de mots-clés, répartition technique / humaine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Tendances — répartition géographique, volume mensuel sur 2 ans, croissance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Rapports personnalisés — génération de rapports de compétences par secteur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→ Toutes les pages s'actualisent automatiquement (60 à 120 secondes)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2. FONCTIONNEMENT</a:t>
            </a:r>
          </a:p>
          <a:p>
            <a:r>
              <a:rPr sz="2600" b="1">
                <a:solidFill>
                  <a:srgbClr val="FFFFFF"/>
                </a:solidFill>
              </a:rPr>
              <a:t>Collecte automatique planifiée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1962851" cy="1463040"/>
          </a:xfrm>
          <a:prstGeom prst="roundRect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Planificateur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APScheduler
jours/heures fixes</a:t>
            </a:r>
          </a:p>
        </p:txBody>
      </p:sp>
      <p:sp>
        <p:nvSpPr>
          <p:cNvPr id="5" name="Chevron 4"/>
          <p:cNvSpPr/>
          <p:nvPr/>
        </p:nvSpPr>
        <p:spPr>
          <a:xfrm>
            <a:off x="2511491" y="2944368"/>
            <a:ext cx="320040" cy="329184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1531" y="2377440"/>
            <a:ext cx="1962851" cy="1463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Collecte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Playwright
recherche par mots-clés</a:t>
            </a:r>
          </a:p>
        </p:txBody>
      </p:sp>
      <p:sp>
        <p:nvSpPr>
          <p:cNvPr id="7" name="Chevron 6"/>
          <p:cNvSpPr/>
          <p:nvPr/>
        </p:nvSpPr>
        <p:spPr>
          <a:xfrm>
            <a:off x="4794382" y="2944368"/>
            <a:ext cx="320040" cy="329184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14422" y="2377440"/>
            <a:ext cx="1962851" cy="1463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Détection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Compétences par
mots-clés</a:t>
            </a:r>
          </a:p>
        </p:txBody>
      </p:sp>
      <p:sp>
        <p:nvSpPr>
          <p:cNvPr id="9" name="Chevron 8"/>
          <p:cNvSpPr/>
          <p:nvPr/>
        </p:nvSpPr>
        <p:spPr>
          <a:xfrm>
            <a:off x="7077273" y="2944368"/>
            <a:ext cx="320040" cy="329184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7313" y="2377440"/>
            <a:ext cx="1962851" cy="14630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Stockage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PostgreSQL
déduplication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9360164" y="2944368"/>
            <a:ext cx="320040" cy="329184"/>
          </a:xfrm>
          <a:prstGeom prst="chevron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80204" y="2377440"/>
            <a:ext cx="1962851" cy="1463040"/>
          </a:xfrm>
          <a:prstGeom prst="roundRect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Visualisation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Dashboards
auto-actualisés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4748B"/>
                </a:solidFill>
              </a:rPr>
              <a:t>Ce flux s'exécute intégralement en arrière-plan, à jours et heures fixes chaque semaine, sans la moindre action de l'utilisateur.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3. ARCHITECTURE</a:t>
            </a:r>
          </a:p>
          <a:p>
            <a:r>
              <a:rPr sz="2600" b="1">
                <a:solidFill>
                  <a:srgbClr val="FFFFFF"/>
                </a:solidFill>
              </a:rPr>
              <a:t>Une stack modulaire en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Présentation — Templates Jinja2 + HTML/CSS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Application — Flask, Flask-Login, Flask-WTF, Flask-Bcrypt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Métier — services.py (comptes, collecte, analyses statistiques)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Collecte automatisée — APScheduler + Playwright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Données — SQLAlchemy (ORM) + PostgreSQL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Déploiement — Docker / docker-compose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→ Séparation stricte routes / services / modèles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3. MODÈLE DE DONNÉES</a:t>
            </a:r>
          </a:p>
          <a:p>
            <a:r>
              <a:rPr sz="2600" b="1">
                <a:solidFill>
                  <a:srgbClr val="FFFFFF"/>
                </a:solidFill>
              </a:rPr>
              <a:t>Six entités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Secteur — domaine d'activité (ex. Informatique, Data analyst)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Entreprise — société recruteuse, rattachée à un secteur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OffreEmploi — une offre collectée (titre, description, date)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Competence — compétence technique ou humaine détectée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User — compte utilisateur de l'application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RapportPersonnalise — rapport généré par un utilisateur pour un secteur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Relation clé : une offre ↔ plusieurs compétences (many-to-many)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3. CHOIX TECHNIQUES</a:t>
            </a:r>
          </a:p>
          <a:p>
            <a:r>
              <a:rPr sz="2600" b="1">
                <a:solidFill>
                  <a:srgbClr val="FFFFFF"/>
                </a:solidFill>
              </a:rPr>
              <a:t>Des décisions justifiées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Détection par règles (mots-clés) plutôt que machine learning supervisé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Aucun jeu de données labellisé disponible pour entraîner un modèle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Besoin descriptif, pas prédictif ; approche explicable pour un public non technique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Playwright plutôt que Selenium pour la collecte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Attente automatique plus fiable, gestion simplifiée des pages multiples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Priorisation géographique paramétrable (ex. Burkina Faso) sans changer le code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Code couleur cohérent par rang sur tous les graphiques (vert/orange/bleu/indigo)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66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FDBFE"/>
                </a:solidFill>
              </a:rP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L'application avec des données réelles collectées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DÉMONSTRATION</a:t>
            </a:r>
          </a:p>
          <a:p>
            <a:r>
              <a:rPr sz="2600" b="1">
                <a:solidFill>
                  <a:srgbClr val="FFFFFF"/>
                </a:solidFill>
              </a:rPr>
              <a:t>Dashboard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960" y="1508760"/>
            <a:ext cx="756577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Indicateurs clés, répartition par secteur et compétences les plus recherchées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DÉMONSTRATION</a:t>
            </a:r>
          </a:p>
          <a:p>
            <a:r>
              <a:rPr sz="2600" b="1">
                <a:solidFill>
                  <a:srgbClr val="FFFFFF"/>
                </a:solidFill>
              </a:rPr>
              <a:t>Offres d'emploi</a:t>
            </a:r>
          </a:p>
        </p:txBody>
      </p:sp>
      <p:pic>
        <p:nvPicPr>
          <p:cNvPr id="4" name="Picture 3" descr="off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418" y="1508760"/>
            <a:ext cx="416485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Liste complète des offres réelles collectées (France et Burkina Faso), filtrable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DÉMONSTRATION</a:t>
            </a:r>
          </a:p>
          <a:p>
            <a:r>
              <a:rPr sz="2600" b="1">
                <a:solidFill>
                  <a:srgbClr val="FFFFFF"/>
                </a:solidFill>
              </a:rPr>
              <a:t>Compétences</a:t>
            </a:r>
          </a:p>
        </p:txBody>
      </p:sp>
      <p:pic>
        <p:nvPicPr>
          <p:cNvPr id="4" name="Picture 3" descr="compet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508760"/>
            <a:ext cx="760780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Classement des compétences les plus demandées et répartition technique / humaine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DÉMONSTRATION</a:t>
            </a:r>
          </a:p>
          <a:p>
            <a:r>
              <a:rPr sz="2600" b="1">
                <a:solidFill>
                  <a:srgbClr val="FFFFFF"/>
                </a:solidFill>
              </a:rPr>
              <a:t>Tendances du marché</a:t>
            </a:r>
          </a:p>
        </p:txBody>
      </p:sp>
      <p:pic>
        <p:nvPicPr>
          <p:cNvPr id="4" name="Picture 3" descr="tend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508760"/>
            <a:ext cx="760780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Répartition géographique, volume mensuel et secteurs en forte croissance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DÉMONSTRATION</a:t>
            </a:r>
          </a:p>
          <a:p>
            <a:r>
              <a:rPr sz="2600" b="1">
                <a:solidFill>
                  <a:srgbClr val="FFFFFF"/>
                </a:solidFill>
              </a:rPr>
              <a:t>Rapports personnalisés</a:t>
            </a:r>
          </a:p>
        </p:txBody>
      </p:sp>
      <p:pic>
        <p:nvPicPr>
          <p:cNvPr id="4" name="Picture 3" descr="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508760"/>
            <a:ext cx="760780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Génération de rapports de compétences ciblés par secteur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4. RÉSULTATS</a:t>
            </a:r>
          </a:p>
          <a:p>
            <a:r>
              <a:rPr sz="2600" b="1">
                <a:solidFill>
                  <a:srgbClr val="FFFFFF"/>
                </a:solidFill>
              </a:rPr>
              <a:t>Des données réelles, mesurées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567863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66C2"/>
                </a:solidFill>
              </a:rPr>
              <a:t>29</a:t>
            </a:r>
          </a:p>
          <a:p>
            <a:pPr algn="ctr"/>
            <a:r>
              <a:rPr sz="1300">
                <a:solidFill>
                  <a:srgbClr val="64748B"/>
                </a:solidFill>
              </a:rPr>
              <a:t>Offres collectées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0823" y="2011680"/>
            <a:ext cx="2567863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0B981"/>
                </a:solidFill>
              </a:rPr>
              <a:t>24</a:t>
            </a:r>
          </a:p>
          <a:p>
            <a:pPr algn="ctr"/>
            <a:r>
              <a:rPr sz="1300">
                <a:solidFill>
                  <a:srgbClr val="64748B"/>
                </a:solidFill>
              </a:rPr>
              <a:t>Entreprises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2011680"/>
            <a:ext cx="2567863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59E0B"/>
                </a:solidFill>
              </a:rPr>
              <a:t>6</a:t>
            </a:r>
          </a:p>
          <a:p>
            <a:pPr algn="ctr"/>
            <a:r>
              <a:rPr sz="1300">
                <a:solidFill>
                  <a:srgbClr val="64748B"/>
                </a:solidFill>
              </a:rPr>
              <a:t>Secteurs couverts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5191" y="2011680"/>
            <a:ext cx="2567863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6366F1"/>
                </a:solidFill>
              </a:rPr>
              <a:t>8</a:t>
            </a:r>
          </a:p>
          <a:p>
            <a:pPr algn="ctr"/>
            <a:r>
              <a:rPr sz="1300">
                <a:solidFill>
                  <a:srgbClr val="64748B"/>
                </a:solidFill>
              </a:rPr>
              <a:t>Compétences détectées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4. RÉSULTATS</a:t>
            </a:r>
          </a:p>
          <a:p>
            <a:r>
              <a:rPr sz="2600" b="1">
                <a:solidFill>
                  <a:srgbClr val="FFFFFF"/>
                </a:solidFill>
              </a:rPr>
              <a:t>Selenium → Playwright : un gain mesuré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Même recherche testée avec les deux moteurs de collecte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Selenium (version initiale) : 1 offre / 3 correctement extraite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Playwright (version actuelle) : 3 offres / 3 correctement extraites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Cause corrigée : les premières cartes sortaient du viewport après défilement,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empêchant la lecture du texte — comportement fiabilisé avec Playwright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5. SÉCURITÉ</a:t>
            </a:r>
          </a:p>
          <a:p>
            <a:r>
              <a:rPr sz="2600" b="1">
                <a:solidFill>
                  <a:srgbClr val="FFFFFF"/>
                </a:solidFill>
              </a:rPr>
              <a:t>Bonnes pratiques appliquées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Mots de passe jamais stockés en clair (hachage Bcrypt à salage)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Protection CSRF sur tous les formulaires (Flask-WTF)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Variables sensibles externalisées (.env, non commité)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Accès aux pages protégé par authentification obligatoire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Aucune donnée personnelle de tiers collectée (offres publiques uniquement)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6. PERSPECTIVES</a:t>
            </a:r>
          </a:p>
          <a:p>
            <a:r>
              <a:rPr sz="2600" b="1">
                <a:solidFill>
                  <a:srgbClr val="FFFFFF"/>
                </a:solidFill>
              </a:rPr>
              <a:t>Limites et pistes d'évolution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Migration vers une API officielle d'offres d'emploi (France Travail, Adzuna)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</a:rPr>
              <a:t>– Source plus stable qu'une extraction de page web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Détection de compétences par NLP plutôt que par mots-clés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Extension de la priorisation géographique à d'autres zones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Tableaux de bord comparatifs multi-pays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3C5FD"/>
                </a:solidFill>
              </a:rPr>
              <a:t>CONCLUSION</a:t>
            </a:r>
          </a:p>
          <a:p>
            <a:r>
              <a:rPr sz="2600" b="1">
                <a:solidFill>
                  <a:srgbClr val="FFFFFF"/>
                </a:solidFill>
              </a:rPr>
              <a:t>Un objectif atteint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Chaîne complète et automatisée : collecte, structuration, restitution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Aucune action manuelle requise de l'utilisateur final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Objectifs vérifiés sur données réelles (29 offres, 6 secteurs, 8 compétences)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E293B"/>
                </a:solidFill>
              </a:rPr>
              <a:t>▪ Architecture modulaire, sécurisée, et déployable via Docker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66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FDBFE"/>
                </a:solidFill>
              </a:rPr>
              <a:t>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